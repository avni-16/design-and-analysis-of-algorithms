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Outfit"/>
      <ns0:italic ns1:id="rIdFont13"/>
      <ns0:bold ns1:id="rIdFont14"/>
      <ns0:regular ns1:id="rIdFont15"/>
    </ns0:embeddedFont>
    <ns0:embeddedFont>
      <ns0:font typeface="Comfortaa"/>
      <ns0:bold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dcf91bec-f9f0-46f4-83c0-063a108be194.fntdata" /><ns0:Relationship Id="rIdFont14" Type="http://schemas.openxmlformats.org/officeDocument/2006/relationships/font" Target="fonts/ff27ffc7-e288-4fa3-bcee-159c6ed6583c.fntdata" /><ns0:Relationship Id="rIdFont15" Type="http://schemas.openxmlformats.org/officeDocument/2006/relationships/font" Target="fonts/4ba63ab0-c19f-4bc4-b0d2-de5ab1ea42e4.fntdata" /><ns0:Relationship Id="rIdFont16" Type="http://schemas.openxmlformats.org/officeDocument/2006/relationships/font" Target="fonts/11be58a3-2d05-4955-b842-13407894c1d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D7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81000"/>
            <a:ext cx="11430000" cy="6096000"/>
          </a:xfrm>
          <a:prstGeom prst="roundRect">
            <a:avLst>
              <a:gd name="adj" fmla="val 4375"/>
            </a:avLst>
          </a:prstGeom>
          <a:solidFill>
            <a:srgbClr val="ECE5DC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2437" y="1615529"/>
            <a:ext cx="3667125" cy="419100"/>
          </a:xfrm>
          <a:prstGeom prst="roundRect">
            <a:avLst>
              <a:gd name="adj" fmla="val 50000"/>
            </a:avLst>
          </a:prstGeom>
          <a:solidFill>
            <a:srgbClr val="DDC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33750" y="4699545"/>
            <a:ext cx="5524500" cy="1152525"/>
          </a:xfrm>
          <a:prstGeom prst="roundRect">
            <a:avLst>
              <a:gd name="adj" fmla="val 330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4175" y="3508920"/>
            <a:ext cx="2000250" cy="723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95875" y="3518445"/>
            <a:ext cx="2000250" cy="704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67575" y="3508920"/>
            <a:ext cx="2000250" cy="723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52850" y="5509170"/>
            <a:ext cx="46863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52850" y="5509170"/>
            <a:ext cx="4686300" cy="9525"/>
          </a:xfrm>
          <a:prstGeom prst="rect">
            <a:avLst/>
          </a:prstGeom>
          <a:solidFill>
            <a:srgbClr val="D8C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1005929"/>
            <a:ext cx="133350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26803" y="2225129"/>
            <a:ext cx="7138392" cy="4524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b="1" sz="2850" i="0" u="none">
                <a:solidFill>
                  <a:srgbClr val="2E261F"/>
                </a:solidFill>
                <a:latin typeface="Outfit"/>
              </a:rPr>
              <a:t>The Traveling Salesman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4437" y="2791866"/>
            <a:ext cx="9763125" cy="4694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48"/>
              </a:lnSpc>
            </a:pPr>
            <a:r>
              <a:rPr b="0" sz="1275" i="0" u="none">
                <a:solidFill>
                  <a:srgbClr val="6E5E4F"/>
                </a:solidFill>
                <a:latin typeface="Outfit"/>
              </a:rPr>
              <a:t>How smart computers find the absolute shortest round trip across many cities without getting lost in endless math.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6484" y="1729829"/>
            <a:ext cx="3679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584635"/>
                </a:solidFill>
                <a:latin typeface="Outfit"/>
              </a:rPr>
              <a:t>A GENTLE GUIDE TO ALGORITHMS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4906" y="4832895"/>
            <a:ext cx="2262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4B3D31"/>
                </a:solidFill>
                <a:latin typeface="Outfit"/>
              </a:rPr>
              <a:t>Presented by : Avni Mankar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5912" y="5051970"/>
            <a:ext cx="1400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D5B4C"/>
                </a:solidFill>
                <a:latin typeface="Outfit"/>
              </a:rPr>
              <a:t>Prn : 25070521014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4037" y="5261520"/>
            <a:ext cx="9239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D5B4C"/>
                </a:solidFill>
                <a:latin typeface="Outfit"/>
              </a:rPr>
              <a:t>Section :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7518" y="3661320"/>
            <a:ext cx="1833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43362A"/>
                </a:solidFill>
                <a:latin typeface="Outfit"/>
              </a:rPr>
              <a:t>Problem:</a:t>
            </a:r>
            <a:r>
              <a:rPr b="0" sz="1275" i="0" u="none">
                <a:solidFill>
                  <a:srgbClr val="43362A"/>
                </a:solidFill>
                <a:latin typeface="Outfit"/>
              </a:rPr>
              <a:t> 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7518" y="3880395"/>
            <a:ext cx="1833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5A4B3D"/>
                </a:solidFill>
                <a:latin typeface="Outfit"/>
              </a:rPr>
              <a:t>Shortest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9218" y="3670845"/>
            <a:ext cx="1833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3362A"/>
                </a:solidFill>
                <a:latin typeface="Outfit"/>
              </a:rPr>
              <a:t>Solution:</a:t>
            </a:r>
            <a:r>
              <a:rPr b="0" sz="1200" i="0" u="none">
                <a:solidFill>
                  <a:srgbClr val="43362A"/>
                </a:solidFill>
                <a:latin typeface="Outfit"/>
              </a:rPr>
              <a:t> Branch &amp;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9218" y="3880395"/>
            <a:ext cx="1833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5A4B3D"/>
                </a:solidFill>
                <a:latin typeface="Outfit"/>
              </a:rPr>
              <a:t>Bound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0918" y="3661320"/>
            <a:ext cx="1833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43362A"/>
                </a:solidFill>
                <a:latin typeface="Outfit"/>
              </a:rPr>
              <a:t>Challenge:</a:t>
            </a:r>
            <a:r>
              <a:rPr b="0" sz="1275" i="0" u="none">
                <a:solidFill>
                  <a:srgbClr val="43362A"/>
                </a:solidFill>
                <a:latin typeface="Outfit"/>
              </a:rPr>
              <a:t> Too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0918" y="3880395"/>
            <a:ext cx="1833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5A4B3D"/>
                </a:solidFill>
                <a:latin typeface="Outfit"/>
              </a:rPr>
              <a:t>Many Possibilities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7062" y="5575845"/>
            <a:ext cx="5857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8C7664"/>
                </a:solidFill>
                <a:latin typeface="Outfit"/>
              </a:rPr>
              <a:t>Video created using </a:t>
            </a:r>
            <a:r>
              <a:rPr b="1" sz="900" i="0" u="none">
                <a:solidFill>
                  <a:srgbClr val="8C7664"/>
                </a:solidFill>
                <a:latin typeface="Outfit"/>
              </a:rPr>
              <a:t>NotebookLM</a:t>
            </a:r>
            <a:r>
              <a:rPr b="0" sz="900" i="0" u="none">
                <a:solidFill>
                  <a:srgbClr val="8C7664"/>
                </a:solidFill>
                <a:latin typeface="Outfit"/>
              </a:rPr>
              <a:t> • Presentation made using </a:t>
            </a:r>
            <a:r>
              <a:rPr b="1" sz="900" i="0" u="none">
                <a:solidFill>
                  <a:srgbClr val="8C7664"/>
                </a:solidFill>
                <a:latin typeface="Outfit"/>
              </a:rPr>
              <a:t>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D7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81000"/>
            <a:ext cx="11430000" cy="6096000"/>
          </a:xfrm>
          <a:prstGeom prst="roundRect">
            <a:avLst>
              <a:gd name="adj" fmla="val 4375"/>
            </a:avLst>
          </a:prstGeom>
          <a:solidFill>
            <a:srgbClr val="ECE5DC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1550" y="2877591"/>
            <a:ext cx="4485679" cy="2074366"/>
          </a:xfrm>
          <a:prstGeom prst="roundRect">
            <a:avLst>
              <a:gd name="adj" fmla="val 9183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1550" y="876300"/>
            <a:ext cx="1647825" cy="266700"/>
          </a:xfrm>
          <a:prstGeom prst="roundRect">
            <a:avLst>
              <a:gd name="adj" fmla="val 50000"/>
            </a:avLst>
          </a:prstGeom>
          <a:solidFill>
            <a:srgbClr val="DFD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62029" y="2857500"/>
            <a:ext cx="5458420" cy="981075"/>
          </a:xfrm>
          <a:prstGeom prst="roundRect">
            <a:avLst>
              <a:gd name="adj" fmla="val 15533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2029" y="3990975"/>
            <a:ext cx="5458420" cy="981075"/>
          </a:xfrm>
          <a:prstGeom prst="roundRect">
            <a:avLst>
              <a:gd name="adj" fmla="val 15533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950" y="876300"/>
            <a:ext cx="952500" cy="571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154" y="3138487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154" y="4271962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167" y="3262312"/>
            <a:ext cx="2190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029" y="4395787"/>
            <a:ext cx="1333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04900" y="933450"/>
            <a:ext cx="14763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6D5945"/>
                </a:solidFill>
                <a:latin typeface="Outfit"/>
              </a:rPr>
              <a:t>THE REAL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1257300"/>
            <a:ext cx="6988373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3D3227"/>
                </a:solidFill>
                <a:latin typeface="Comfortaa"/>
              </a:rPr>
              <a:t>Why Checking Every Route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46" y="3230016"/>
            <a:ext cx="48212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8E7A68"/>
                </a:solidFill>
                <a:latin typeface="Outfit"/>
              </a:rPr>
              <a:t>FOR JUST 10 DELIVERY STOPS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46" y="3525291"/>
            <a:ext cx="4821287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b="1" sz="3900" i="0" u="none">
                <a:solidFill>
                  <a:srgbClr val="9C6644"/>
                </a:solidFill>
                <a:latin typeface="Comfortaa"/>
              </a:rPr>
              <a:t>3,628,800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46" y="4172991"/>
            <a:ext cx="4821287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6D5945"/>
                </a:solidFill>
                <a:latin typeface="Outfit"/>
              </a:rPr>
              <a:t>Possible routes to test. Every single extra stop multiplies this number into billions!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0704" y="3057525"/>
            <a:ext cx="560129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D3227"/>
                </a:solidFill>
                <a:latin typeface="Outfit"/>
              </a:rPr>
              <a:t>A Delivery Driver's Daily Dilemma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0704" y="3295650"/>
            <a:ext cx="448687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86653"/>
                </a:solidFill>
                <a:latin typeface="Outfit"/>
              </a:rPr>
              <a:t>Start at the depot, deliver to every home once, and return using the shortest distance.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0704" y="4191000"/>
            <a:ext cx="560129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D3227"/>
                </a:solidFill>
                <a:latin typeface="Outfit"/>
              </a:rPr>
              <a:t>Computers Would Take Lifetimes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0704" y="4429125"/>
            <a:ext cx="448687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86653"/>
                </a:solidFill>
                <a:latin typeface="Outfit"/>
              </a:rPr>
              <a:t>Testing paths one by one takes centuries when we add just twenty or thirty addresses.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D7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81000"/>
            <a:ext cx="11430000" cy="6096000"/>
          </a:xfrm>
          <a:prstGeom prst="roundRect">
            <a:avLst>
              <a:gd name="adj" fmla="val 4375"/>
            </a:avLst>
          </a:prstGeom>
          <a:solidFill>
            <a:srgbClr val="ECE5DC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1550" y="876300"/>
            <a:ext cx="1957387" cy="266700"/>
          </a:xfrm>
          <a:prstGeom prst="roundRect">
            <a:avLst>
              <a:gd name="adj" fmla="val 50000"/>
            </a:avLst>
          </a:prstGeom>
          <a:solidFill>
            <a:srgbClr val="DFD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1550" y="2953196"/>
            <a:ext cx="2419350" cy="1923008"/>
          </a:xfrm>
          <a:prstGeom prst="roundRect">
            <a:avLst>
              <a:gd name="adj" fmla="val 8915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81400" y="2953196"/>
            <a:ext cx="2419350" cy="1923008"/>
          </a:xfrm>
          <a:prstGeom prst="roundRect">
            <a:avLst>
              <a:gd name="adj" fmla="val 8915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2953196"/>
            <a:ext cx="2419350" cy="1923008"/>
          </a:xfrm>
          <a:prstGeom prst="roundRect">
            <a:avLst>
              <a:gd name="adj" fmla="val 8915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01100" y="2953196"/>
            <a:ext cx="2419350" cy="1923008"/>
          </a:xfrm>
          <a:prstGeom prst="roundRect">
            <a:avLst>
              <a:gd name="adj" fmla="val 8915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90625" y="322942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FD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00475" y="322942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FD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0325" y="322942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2D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20175" y="322942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3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05700" y="876300"/>
            <a:ext cx="3714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125" i="0" u="none">
                <a:solidFill>
                  <a:srgbClr val="8A7562"/>
                </a:solidFill>
                <a:latin typeface="Outfit"/>
              </a:rPr>
              <a:t>Instead of finishing bad routes, computers discard them the moment they get too long.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933450"/>
            <a:ext cx="1785937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6D5945"/>
                </a:solidFill>
                <a:latin typeface="Outfit"/>
              </a:rPr>
              <a:t>THE SMART 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1257300"/>
            <a:ext cx="6750843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3D3227"/>
                </a:solidFill>
                <a:latin typeface="Comfortaa"/>
              </a:rPr>
              <a:t>How Branch and Bound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3229421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5A4735"/>
                </a:solidFill>
                <a:latin typeface="Outfi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3724721"/>
            <a:ext cx="2600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D3227"/>
                </a:solidFill>
                <a:latin typeface="Outfit"/>
              </a:rPr>
              <a:t>Pick Any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" y="4019996"/>
            <a:ext cx="2076450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786653"/>
                </a:solidFill>
                <a:latin typeface="Outfit"/>
              </a:rPr>
              <a:t>First, trace one complete path through all stops to get a working baseline.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229421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5A4735"/>
                </a:solidFill>
                <a:latin typeface="Outfi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0475" y="3724721"/>
            <a:ext cx="2600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D3227"/>
                </a:solidFill>
                <a:latin typeface="Outfit"/>
              </a:rPr>
              <a:t>Set the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0475" y="4019996"/>
            <a:ext cx="207645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786653"/>
                </a:solidFill>
                <a:latin typeface="Outfit"/>
              </a:rPr>
              <a:t>Mark down that total mileage as our target benchmark to beat.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7450" y="3229421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9C6644"/>
                </a:solidFill>
                <a:latin typeface="Outfi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5" y="3724721"/>
            <a:ext cx="2600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D3227"/>
                </a:solidFill>
                <a:latin typeface="Outfit"/>
              </a:rPr>
              <a:t>Snip Early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0325" y="4019996"/>
            <a:ext cx="2076450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786653"/>
                </a:solidFill>
                <a:latin typeface="Outfit"/>
              </a:rPr>
              <a:t>Stop calculating a route immediately if it already exceeds our best score.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7300" y="3229421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52734D"/>
                </a:solidFill>
                <a:latin typeface="Outfi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0175" y="3724721"/>
            <a:ext cx="26003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D3227"/>
                </a:solidFill>
                <a:latin typeface="Outfit"/>
              </a:rPr>
              <a:t>Keep Lowering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0175" y="4019996"/>
            <a:ext cx="2076450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786653"/>
                </a:solidFill>
                <a:latin typeface="Outfit"/>
              </a:rPr>
              <a:t>Whenever a full route beats the record, update the baseline to the new winner.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D7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81000"/>
            <a:ext cx="11430000" cy="6096000"/>
          </a:xfrm>
          <a:prstGeom prst="roundRect">
            <a:avLst>
              <a:gd name="adj" fmla="val 4375"/>
            </a:avLst>
          </a:prstGeom>
          <a:solidFill>
            <a:srgbClr val="ECE5DC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1550" y="2571750"/>
            <a:ext cx="10248900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1550" y="3524250"/>
            <a:ext cx="10248900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EB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1550" y="4476750"/>
            <a:ext cx="10248900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CFE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1550" y="876300"/>
            <a:ext cx="1366837" cy="266700"/>
          </a:xfrm>
          <a:prstGeom prst="roundRect">
            <a:avLst>
              <a:gd name="adj" fmla="val 50000"/>
            </a:avLst>
          </a:prstGeom>
          <a:solidFill>
            <a:srgbClr val="DFD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28725" y="2838450"/>
            <a:ext cx="904875" cy="247650"/>
          </a:xfrm>
          <a:prstGeom prst="roundRect">
            <a:avLst>
              <a:gd name="adj" fmla="val 46153"/>
            </a:avLst>
          </a:prstGeom>
          <a:solidFill>
            <a:srgbClr val="E8D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28725" y="3790950"/>
            <a:ext cx="866775" cy="247650"/>
          </a:xfrm>
          <a:prstGeom prst="roundRect">
            <a:avLst>
              <a:gd name="adj" fmla="val 46153"/>
            </a:avLst>
          </a:prstGeom>
          <a:solidFill>
            <a:srgbClr val="F7D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28725" y="4743450"/>
            <a:ext cx="790575" cy="247650"/>
          </a:xfrm>
          <a:prstGeom prst="roundRect">
            <a:avLst>
              <a:gd name="adj" fmla="val 46153"/>
            </a:avLst>
          </a:prstGeom>
          <a:solidFill>
            <a:srgbClr val="E2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450" y="876300"/>
            <a:ext cx="76200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900" y="933450"/>
            <a:ext cx="1195387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6D5945"/>
                </a:solidFill>
                <a:latin typeface="Outfit"/>
              </a:rPr>
              <a:t>WALKTHROUGH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1257300"/>
            <a:ext cx="7975996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3D3227"/>
                </a:solidFill>
                <a:latin typeface="Comfortaa"/>
              </a:rPr>
              <a:t>The 10-Stop Example from the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0275" y="2752725"/>
            <a:ext cx="1143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950" i="0" u="none">
                <a:solidFill>
                  <a:srgbClr val="6D5945"/>
                </a:solidFill>
                <a:latin typeface="Outfit"/>
              </a:rPr>
              <a:t>50 Miles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39325" y="3705225"/>
            <a:ext cx="11239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950" i="0" u="none">
                <a:solidFill>
                  <a:srgbClr val="B05327"/>
                </a:solidFill>
                <a:latin typeface="Outfit"/>
              </a:rPr>
              <a:t>51 Miles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1225" y="4657725"/>
            <a:ext cx="1162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950" i="0" u="none">
                <a:solidFill>
                  <a:srgbClr val="3F6837"/>
                </a:solidFill>
                <a:latin typeface="Outfit"/>
              </a:rPr>
              <a:t>28 Miles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075" y="2895600"/>
            <a:ext cx="7334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D5945"/>
                </a:solidFill>
                <a:latin typeface="Comfortaa"/>
              </a:rPr>
              <a:t>FIRST 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9775" y="3028950"/>
            <a:ext cx="1333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9C8A77"/>
                </a:solidFill>
                <a:latin typeface="Outfit"/>
              </a:rPr>
              <a:t>Baseline Ceiling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2075" y="3848100"/>
            <a:ext cx="6953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C6644"/>
                </a:solidFill>
                <a:latin typeface="Comfortaa"/>
              </a:rPr>
              <a:t>SNIPPED!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8825" y="3981450"/>
            <a:ext cx="13144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B87B60"/>
                </a:solidFill>
                <a:latin typeface="Outfit"/>
              </a:rPr>
              <a:t>Discarded (Too Far)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2075" y="4800600"/>
            <a:ext cx="6191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4683C"/>
                </a:solidFill>
                <a:latin typeface="Comfortaa"/>
              </a:rPr>
              <a:t>WINNER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0725" y="4933950"/>
            <a:ext cx="13525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64865D"/>
                </a:solidFill>
                <a:latin typeface="Outfit"/>
              </a:rPr>
              <a:t>Guaranteed Shortest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5050" y="2767012"/>
            <a:ext cx="43880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D3227"/>
                </a:solidFill>
                <a:latin typeface="Outfit"/>
              </a:rPr>
              <a:t>The First Random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5050" y="2986087"/>
            <a:ext cx="4179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86653"/>
                </a:solidFill>
                <a:latin typeface="Outfit"/>
              </a:rPr>
              <a:t>It visits all 10 homes and locks in our starting benchmark.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6950" y="3719512"/>
            <a:ext cx="60882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8A4827"/>
                </a:solidFill>
                <a:latin typeface="Outfit"/>
              </a:rPr>
              <a:t>A Bad Path Gets Cut Short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6950" y="3938587"/>
            <a:ext cx="5798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C6644"/>
                </a:solidFill>
                <a:latin typeface="Outfit"/>
              </a:rPr>
              <a:t>Just 4 stops in, distance hits 51 miles. Deleted instantly without testing the rest!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0750" y="4672012"/>
            <a:ext cx="556319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2502C"/>
                </a:solidFill>
                <a:latin typeface="Outfit"/>
              </a:rPr>
              <a:t>Down to the Perfect Minimum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4891087"/>
            <a:ext cx="5298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E6E46"/>
                </a:solidFill>
                <a:latin typeface="Outfit"/>
              </a:rPr>
              <a:t>Tightening targets (45 → 38 → 32) leads swiftly to the exact best route.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D7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81000"/>
            <a:ext cx="11430000" cy="6096000"/>
          </a:xfrm>
          <a:prstGeom prst="roundRect">
            <a:avLst>
              <a:gd name="adj" fmla="val 4375"/>
            </a:avLst>
          </a:prstGeom>
          <a:solidFill>
            <a:srgbClr val="ECE5DC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1550" y="4663380"/>
            <a:ext cx="10248900" cy="609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1550" y="876300"/>
            <a:ext cx="1981200" cy="266700"/>
          </a:xfrm>
          <a:prstGeom prst="roundRect">
            <a:avLst>
              <a:gd name="adj" fmla="val 50000"/>
            </a:avLst>
          </a:prstGeom>
          <a:solidFill>
            <a:srgbClr val="DFD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1550" y="2594669"/>
            <a:ext cx="3263949" cy="1802010"/>
          </a:xfrm>
          <a:prstGeom prst="roundRect">
            <a:avLst>
              <a:gd name="adj" fmla="val 10571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64099" y="2594669"/>
            <a:ext cx="3263949" cy="1802010"/>
          </a:xfrm>
          <a:prstGeom prst="roundRect">
            <a:avLst>
              <a:gd name="adj" fmla="val 10571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6649" y="2594669"/>
            <a:ext cx="3263949" cy="1802010"/>
          </a:xfrm>
          <a:prstGeom prst="roundRect">
            <a:avLst>
              <a:gd name="adj" fmla="val 10571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" y="4863405"/>
            <a:ext cx="16192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4900" y="933450"/>
            <a:ext cx="18097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6D5945"/>
                </a:solidFill>
                <a:latin typeface="Outfit"/>
              </a:rPr>
              <a:t>THE MAGIC OF PRUNING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1257300"/>
            <a:ext cx="5788223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3D3227"/>
                </a:solidFill>
                <a:latin typeface="Comfortaa"/>
              </a:rPr>
              <a:t>Work Smarter, Not Harder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4868167"/>
            <a:ext cx="8298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5A4735"/>
                </a:solidFill>
                <a:latin typeface="Outfit"/>
              </a:rPr>
              <a:t>Takeaway:</a:t>
            </a:r>
            <a:r>
              <a:rPr b="0" sz="1125" i="0" u="none">
                <a:solidFill>
                  <a:srgbClr val="5A4735"/>
                </a:solidFill>
                <a:latin typeface="Outfit"/>
              </a:rPr>
              <a:t> Great algorithms don't just calculate faster—they know what </a:t>
            </a:r>
            <a:r>
              <a:rPr b="0" sz="1125" i="1" u="none">
                <a:solidFill>
                  <a:srgbClr val="5A4735"/>
                </a:solidFill>
                <a:latin typeface="Outfit"/>
              </a:rPr>
              <a:t>not</a:t>
            </a:r>
            <a:r>
              <a:rPr b="0" sz="1125" i="0" u="none">
                <a:solidFill>
                  <a:srgbClr val="5A4735"/>
                </a:solidFill>
                <a:latin typeface="Outfit"/>
              </a:rPr>
              <a:t> to calculate in the first place!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025" y="2889944"/>
            <a:ext cx="3436999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7F6047"/>
                </a:solidFill>
                <a:latin typeface="Comfortaa"/>
              </a:rPr>
              <a:t>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100" y="3451919"/>
            <a:ext cx="36088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D3227"/>
                </a:solidFill>
                <a:latin typeface="Outfit"/>
              </a:rPr>
              <a:t>Done in Milliseconds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025" y="3728144"/>
            <a:ext cx="343699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786653"/>
                </a:solidFill>
                <a:latin typeface="Outfit"/>
              </a:rPr>
              <a:t>Computers find the optimal delivery trip in the blink of an eye.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7574" y="2889944"/>
            <a:ext cx="3436999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9C6644"/>
                </a:solidFill>
                <a:latin typeface="Comfortaa"/>
              </a:rPr>
              <a:t>Millions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1649" y="3451919"/>
            <a:ext cx="36088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D3227"/>
                </a:solidFill>
                <a:latin typeface="Outfit"/>
              </a:rPr>
              <a:t>Bad Paths Skipped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7574" y="3728144"/>
            <a:ext cx="343699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786653"/>
                </a:solidFill>
                <a:latin typeface="Outfit"/>
              </a:rPr>
              <a:t>Ignoring hopeless paths early saves enormous amounts of energy.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0124" y="2889944"/>
            <a:ext cx="3436999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4E6E46"/>
                </a:solidFill>
                <a:latin typeface="Comfortaa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4199" y="3451919"/>
            <a:ext cx="36088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D3227"/>
                </a:solidFill>
                <a:latin typeface="Outfit"/>
              </a:rPr>
              <a:t>Mathematically Exact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0124" y="3728144"/>
            <a:ext cx="343699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786653"/>
                </a:solidFill>
                <a:latin typeface="Outfit"/>
              </a:rPr>
              <a:t>Guarantees the shortest loop without guessing or cutting corners.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D7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381000"/>
            <a:ext cx="11430000" cy="6096000"/>
          </a:xfrm>
          <a:prstGeom prst="roundRect">
            <a:avLst>
              <a:gd name="adj" fmla="val 4375"/>
            </a:avLst>
          </a:prstGeom>
          <a:solidFill>
            <a:srgbClr val="ECE5DC"/>
          </a:solidFill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5350" y="1628775"/>
            <a:ext cx="4274194" cy="4448175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8144" y="1628775"/>
            <a:ext cx="5898505" cy="4448175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" y="781050"/>
            <a:ext cx="2676525" cy="266700"/>
          </a:xfrm>
          <a:prstGeom prst="roundRect">
            <a:avLst>
              <a:gd name="adj" fmla="val 50000"/>
            </a:avLst>
          </a:prstGeom>
          <a:solidFill>
            <a:srgbClr val="DFD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4425" y="5494139"/>
            <a:ext cx="3836044" cy="363735"/>
          </a:xfrm>
          <a:prstGeom prst="roundRect">
            <a:avLst>
              <a:gd name="adj" fmla="val 31423"/>
            </a:avLst>
          </a:prstGeom>
          <a:solidFill>
            <a:srgbClr val="FBF7F2"/>
          </a:solidFill>
          <a:ln w="9525">
            <a:solidFill>
              <a:srgbClr val="EB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17219" y="5276850"/>
            <a:ext cx="5460355" cy="581025"/>
          </a:xfrm>
          <a:prstGeom prst="roundRect">
            <a:avLst>
              <a:gd name="adj" fmla="val 19672"/>
            </a:avLst>
          </a:prstGeom>
          <a:solidFill>
            <a:srgbClr val="E9F3E5"/>
          </a:solidFill>
          <a:ln w="9525">
            <a:solidFill>
              <a:srgbClr val="BDDB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14425" y="1847850"/>
            <a:ext cx="790575" cy="209550"/>
          </a:xfrm>
          <a:prstGeom prst="roundRect">
            <a:avLst>
              <a:gd name="adj" fmla="val 45454"/>
            </a:avLst>
          </a:prstGeom>
          <a:solidFill>
            <a:srgbClr val="DFD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17219" y="2171700"/>
            <a:ext cx="5460355" cy="285750"/>
          </a:xfrm>
          <a:prstGeom prst="roundRect">
            <a:avLst>
              <a:gd name="adj" fmla="val 26666"/>
            </a:avLst>
          </a:prstGeom>
          <a:solidFill>
            <a:srgbClr val="FAF7F2"/>
          </a:solidFill>
          <a:ln w="9525">
            <a:solidFill>
              <a:srgbClr val="EB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17219" y="2514600"/>
            <a:ext cx="5460355" cy="285750"/>
          </a:xfrm>
          <a:prstGeom prst="roundRect">
            <a:avLst>
              <a:gd name="adj" fmla="val 26666"/>
            </a:avLst>
          </a:prstGeom>
          <a:solidFill>
            <a:srgbClr val="FAF7F2"/>
          </a:solidFill>
          <a:ln w="9525">
            <a:solidFill>
              <a:srgbClr val="EB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17219" y="2857500"/>
            <a:ext cx="5460355" cy="285750"/>
          </a:xfrm>
          <a:prstGeom prst="roundRect">
            <a:avLst>
              <a:gd name="adj" fmla="val 26666"/>
            </a:avLst>
          </a:prstGeom>
          <a:solidFill>
            <a:srgbClr val="FAF7F2"/>
          </a:solidFill>
          <a:ln w="9525">
            <a:solidFill>
              <a:srgbClr val="EB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7219" y="3200400"/>
            <a:ext cx="5460355" cy="342900"/>
          </a:xfrm>
          <a:prstGeom prst="roundRect">
            <a:avLst>
              <a:gd name="adj" fmla="val 22222"/>
            </a:avLst>
          </a:prstGeom>
          <a:solidFill>
            <a:srgbClr val="EDF6EA"/>
          </a:solidFill>
          <a:ln w="9525">
            <a:solidFill>
              <a:srgbClr val="A8C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17219" y="3600450"/>
            <a:ext cx="5460355" cy="285750"/>
          </a:xfrm>
          <a:prstGeom prst="roundRect">
            <a:avLst>
              <a:gd name="adj" fmla="val 26666"/>
            </a:avLst>
          </a:prstGeom>
          <a:solidFill>
            <a:srgbClr val="FAF7F2"/>
          </a:solidFill>
          <a:ln w="9525">
            <a:solidFill>
              <a:srgbClr val="EB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17219" y="3943350"/>
            <a:ext cx="5460355" cy="285750"/>
          </a:xfrm>
          <a:prstGeom prst="roundRect">
            <a:avLst>
              <a:gd name="adj" fmla="val 26666"/>
            </a:avLst>
          </a:prstGeom>
          <a:solidFill>
            <a:srgbClr val="FAF7F2"/>
          </a:solidFill>
          <a:ln w="9525">
            <a:solidFill>
              <a:srgbClr val="EB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17219" y="1847850"/>
            <a:ext cx="857250" cy="209550"/>
          </a:xfrm>
          <a:prstGeom prst="roundRect">
            <a:avLst>
              <a:gd name="adj" fmla="val 45454"/>
            </a:avLst>
          </a:prstGeom>
          <a:solidFill>
            <a:srgbClr val="E3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4425" y="2632471"/>
            <a:ext cx="3836044" cy="1476375"/>
          </a:xfrm>
          <a:prstGeom prst="roundRect">
            <a:avLst>
              <a:gd name="adj" fmla="val 0"/>
            </a:avLst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114425" y="2632471"/>
          <a:ext cx="3826517" cy="14763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499443"/>
                <a:gridCol w="517028"/>
                <a:gridCol w="599777"/>
                <a:gridCol w="599777"/>
                <a:gridCol w="610492"/>
              </a:tblGrid>
              <a:tr h="295275"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5A4735"/>
                          </a:solidFill>
                          <a:latin typeface="Outfit"/>
                        </a:rPr>
                        <a:t>From \ 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3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5A4735"/>
                          </a:solidFill>
                          <a:latin typeface="Outfit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3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5A4735"/>
                          </a:solidFill>
                          <a:latin typeface="Outfit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3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5A4735"/>
                          </a:solidFill>
                          <a:latin typeface="Outfit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3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5A4735"/>
                          </a:solidFill>
                          <a:latin typeface="Outfit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3D5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D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D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25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D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ED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50" i="0" u="none">
                          <a:solidFill>
                            <a:srgbClr val="43362A"/>
                          </a:solidFill>
                          <a:latin typeface="Outfit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046243" y="1042987"/>
            <a:ext cx="3250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877461"/>
                </a:solidFill>
                <a:latin typeface="Outfit"/>
              </a:rPr>
              <a:t>Start &amp; End at City 1 • Visit Every Node 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838200"/>
            <a:ext cx="25050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6D5945"/>
                </a:solidFill>
                <a:latin typeface="Outfit"/>
              </a:rPr>
              <a:t>PRACTICAL PROBLEM &amp;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1162050"/>
            <a:ext cx="6863357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3D3227"/>
                </a:solidFill>
                <a:latin typeface="Comfortaa"/>
              </a:rPr>
              <a:t>4-City Travelling Salesman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425" y="2152650"/>
            <a:ext cx="3931294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D5945"/>
                </a:solidFill>
                <a:latin typeface="Outfit"/>
              </a:rPr>
              <a:t>Given 4 cities (1, 2, 3, 4), find the shortest round tour starting and ending at node 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" y="5598914"/>
            <a:ext cx="4437868" cy="1541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b="1" sz="900" i="0" u="none">
                <a:solidFill>
                  <a:srgbClr val="877461"/>
                </a:solidFill>
                <a:latin typeface="Outfit"/>
              </a:rPr>
              <a:t>Total Tour Options:</a:t>
            </a:r>
            <a:r>
              <a:rPr b="0" sz="900" i="0" u="none">
                <a:solidFill>
                  <a:srgbClr val="877461"/>
                </a:solidFill>
                <a:latin typeface="Outfit"/>
              </a:rPr>
              <a:t> (4 - 1)! = 3! = </a:t>
            </a:r>
            <a:r>
              <a:rPr b="1" sz="900" i="0" u="none">
                <a:solidFill>
                  <a:srgbClr val="877461"/>
                </a:solidFill>
                <a:latin typeface="Outfit"/>
              </a:rPr>
              <a:t>6 routes</a:t>
            </a:r>
            <a:r>
              <a:rPr b="0" sz="900" i="0" u="none">
                <a:solidFill>
                  <a:srgbClr val="877461"/>
                </a:solidFill>
                <a:latin typeface="Outfit"/>
              </a:rPr>
              <a:t> evaluated.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96550" y="5429250"/>
            <a:ext cx="4000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950" i="0" u="none">
                <a:solidFill>
                  <a:srgbClr val="2E5224"/>
                </a:solidFill>
                <a:latin typeface="Outfit"/>
              </a:rPr>
              <a:t>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9675" y="1885950"/>
            <a:ext cx="6953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D5945"/>
                </a:solidFill>
                <a:latin typeface="Comfortaa"/>
              </a:rPr>
              <a:t>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0250" y="1876425"/>
            <a:ext cx="1547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86653"/>
                </a:solidFill>
                <a:latin typeface="Outfit"/>
              </a:rPr>
              <a:t>Distance / Cost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7450" y="1881187"/>
            <a:ext cx="1285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C8A77"/>
                </a:solidFill>
                <a:latin typeface="Outfit"/>
              </a:rPr>
              <a:t>Search Tree Leaves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8194" y="5400675"/>
            <a:ext cx="25598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3663A"/>
                </a:solidFill>
                <a:latin typeface="Outfit"/>
              </a:rPr>
              <a:t>OPTIMAL ROUTE &amp; MINIMUM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8194" y="5562600"/>
            <a:ext cx="268783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421D"/>
                </a:solidFill>
                <a:latin typeface="Comfortaa"/>
              </a:rPr>
              <a:t>Tour: 1 → 3 → 4 → 2 →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2469" y="1885950"/>
            <a:ext cx="762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3663A"/>
                </a:solidFill>
                <a:latin typeface="Comfortaa"/>
              </a:rPr>
              <a:t>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0669" y="1876425"/>
            <a:ext cx="1559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3663A"/>
                </a:solidFill>
                <a:latin typeface="Outfit"/>
              </a:rPr>
              <a:t>Evaluation of All Paths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1044" y="2238375"/>
            <a:ext cx="2476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D5945"/>
                </a:solidFill>
                <a:latin typeface="Outfit"/>
              </a:rPr>
              <a:t>1 → 2 → 3 → 4 → 1  (10 + 25 + 5 + 15)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58450" y="2238375"/>
            <a:ext cx="781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D5945"/>
                </a:solidFill>
                <a:latin typeface="Outfit"/>
              </a:rPr>
              <a:t>Cost = 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41044" y="2581275"/>
            <a:ext cx="258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D5945"/>
                </a:solidFill>
                <a:latin typeface="Outfit"/>
              </a:rPr>
              <a:t>1 → 2 → 4 → 3 → 1  (10 + 10 + 20 + 15)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58450" y="2581275"/>
            <a:ext cx="781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D5945"/>
                </a:solidFill>
                <a:latin typeface="Outfit"/>
              </a:rPr>
              <a:t>Cost = 55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41044" y="2924175"/>
            <a:ext cx="2559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D5945"/>
                </a:solidFill>
                <a:latin typeface="Outfit"/>
              </a:rPr>
              <a:t>1 → 3 → 2 → 4 → 1  (15 + 30 + 10 + 15)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39400" y="2924175"/>
            <a:ext cx="8001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D5945"/>
                </a:solidFill>
                <a:latin typeface="Outfit"/>
              </a:rPr>
              <a:t>Cost = 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41044" y="3286125"/>
            <a:ext cx="2381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E5224"/>
                </a:solidFill>
                <a:latin typeface="Outfit"/>
              </a:rPr>
              <a:t>★ 1 → 3 → 4 → 2 → 1  (15 + 5 + 10 + 5)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2625" y="3286125"/>
            <a:ext cx="1726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E5224"/>
                </a:solidFill>
                <a:latin typeface="Comfortaa"/>
              </a:rPr>
              <a:t>Cost = 35 (Minimum)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41044" y="3667125"/>
            <a:ext cx="258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D5945"/>
                </a:solidFill>
                <a:latin typeface="Outfit"/>
              </a:rPr>
              <a:t>1 → 4 → 2 → 3 → 1  (20 + 10 + 25 + 15)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9400" y="3667125"/>
            <a:ext cx="8001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D5945"/>
                </a:solidFill>
                <a:latin typeface="Outfit"/>
              </a:rPr>
              <a:t>Cost = 70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41044" y="4010025"/>
            <a:ext cx="2571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D5945"/>
                </a:solidFill>
                <a:latin typeface="Outfit"/>
              </a:rPr>
              <a:t>1 → 4 → 3 → 2 → 1  (20 + 5 + 30 + 20)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58450" y="4010025"/>
            <a:ext cx="781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D5945"/>
                </a:solidFill>
                <a:latin typeface="Outfit"/>
              </a:rPr>
              <a:t>Cost = 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